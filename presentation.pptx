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 autoCompressPictures="0">
  <p:sldMasterIdLst>
    <p:sldMasterId id="2147483648" r:id="rId1"/>
    <p:embeddedFontLst>
      <p:embeddedFont>
        <p:font typeface="Fraunces"/>
        <p:regular r:id="rId24"/>
        <p:bold r:id="rId24"/>
        <p:italic r:id="rId25"/>
        <p:boldItalic r:id="rId25"/>
      </p:embeddedFont>
      <p:embeddedFont>
        <p:font typeface="Spectral"/>
        <p:regular r:id="rId26"/>
        <p:bold r:id="rId27"/>
        <p:italic r:id="rId28"/>
        <p:boldItalic r:id="rId28"/>
      </p:embeddedFont>
      <p:embeddedFont>
        <p:font typeface="IBM Plex Mono"/>
        <p:regular r:id="rId29"/>
        <p:bold r:id="rId30"/>
        <p:italic r:id="rId29"/>
        <p:boldItalic r:id="rId30"/>
      </p:embeddedFont>
    </p:embeddedFontLst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428750"/>
            <a:ext cx="7239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703A"/>
                </a:solidFill>
                <a:latin typeface="IBM Plex Mono"/>
              </a:rPr>
              <a:t>AIUCD 2026 · CAGLIARI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90700"/>
            <a:ext cx="73342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4050" b="1" i="0">
                <a:solidFill>
                  <a:srgbClr val="211C18"/>
                </a:solidFill>
                <a:latin typeface="Fraunces"/>
              </a:rPr>
              <a:t>Assessing LLM Capabilities in </a:t>
            </a:r>
            <a:r>
              <a:rPr sz="4050" b="1" i="1">
                <a:solidFill>
                  <a:srgbClr val="7A2E2E"/>
                </a:solidFill>
                <a:latin typeface="Fraunces"/>
              </a:rPr>
              <a:t>Cultural Heritage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00100" y="3352800"/>
            <a:ext cx="72390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0100" y="3429000"/>
            <a:ext cx="7239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13A"/>
                </a:solidFill>
                <a:latin typeface="Spectral"/>
              </a:rPr>
              <a:t>Recent Trends and Gaps in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924300"/>
            <a:ext cx="762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5E2222"/>
                </a:solidFill>
                <a:latin typeface="Spectral"/>
              </a:rPr>
              <a:t>Remo Grillo</a:t>
            </a:r>
            <a:r>
              <a:rPr sz="1275" b="0" i="0">
                <a:solidFill>
                  <a:srgbClr val="211C18"/>
                </a:solidFill>
                <a:latin typeface="Spectral"/>
              </a:rPr>
              <a:t>¹˒²  ·  </a:t>
            </a:r>
            <a:r>
              <a:rPr sz="1275" b="1" i="0">
                <a:solidFill>
                  <a:srgbClr val="211C18"/>
                </a:solidFill>
                <a:latin typeface="Spectral"/>
              </a:rPr>
              <a:t>Gianmarco Spinaci</a:t>
            </a:r>
            <a:r>
              <a:rPr sz="1275" b="0" i="0">
                <a:solidFill>
                  <a:srgbClr val="211C18"/>
                </a:solidFill>
                <a:latin typeface="Spectral"/>
              </a:rPr>
              <a:t>¹˒²  ·  </a:t>
            </a:r>
            <a:r>
              <a:rPr sz="1275" b="1" i="0">
                <a:solidFill>
                  <a:srgbClr val="211C18"/>
                </a:solidFill>
                <a:latin typeface="Spectral"/>
              </a:rPr>
              <a:t>Lukas Klic</a:t>
            </a:r>
            <a:r>
              <a:rPr sz="1275" b="0" i="0">
                <a:solidFill>
                  <a:srgbClr val="211C18"/>
                </a:solidFill>
                <a:latin typeface="Spectral"/>
              </a:rPr>
              <a:t>²  ·  </a:t>
            </a:r>
            <a:r>
              <a:rPr sz="1275" b="1" i="0">
                <a:solidFill>
                  <a:srgbClr val="211C18"/>
                </a:solidFill>
                <a:latin typeface="Spectral"/>
              </a:rPr>
              <a:t>Giovanni Colavizza</a:t>
            </a:r>
            <a:r>
              <a:rPr sz="1275" b="0" i="0">
                <a:solidFill>
                  <a:srgbClr val="211C18"/>
                </a:solidFill>
                <a:latin typeface="Spectral"/>
              </a:rPr>
              <a:t>¹˒³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286250"/>
            <a:ext cx="7620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8A7F71"/>
                </a:solidFill>
                <a:latin typeface="Spectral"/>
              </a:rPr>
              <a:t>¹ Dip. di Filologia Classica e Italianistica, Università di Bologna</a:t>
            </a:r>
          </a:p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8A7F71"/>
                </a:solidFill>
                <a:latin typeface="Spectral"/>
              </a:rPr>
              <a:t>² I Tatti — The Harvard University Center for Italian Renaissance Studies, Firenze</a:t>
            </a:r>
          </a:p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8A7F71"/>
                </a:solidFill>
                <a:latin typeface="Spectral"/>
              </a:rPr>
              <a:t>³ Dept. of Communication &amp; Centre for Digital and Computational Humanities, University of Copenhagen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5" y="2143125"/>
            <a:ext cx="2000250" cy="2000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01125" y="4286250"/>
            <a:ext cx="25717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7F71"/>
                </a:solidFill>
                <a:latin typeface="IBM Plex Mono"/>
              </a:rPr>
              <a:t>15TH AIUCD CONFERENCE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From experiment to infrastructure — 2024–2026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600200"/>
            <a:ext cx="5191125" cy="1857375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600200"/>
            <a:ext cx="38100" cy="185737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850" y="1828800"/>
            <a:ext cx="4676775" cy="147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CONVERGENCE 01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LLMs enter the everyday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4A413A"/>
                </a:solidFill>
                <a:latin typeface="Spectral"/>
              </a:rPr>
              <a:t>Large &amp; multimodal models have moved from experiments to </a:t>
            </a:r>
            <a:r>
              <a:rPr sz="1162" b="1" i="0">
                <a:solidFill>
                  <a:srgbClr val="5E2222"/>
                </a:solidFill>
                <a:latin typeface="Spectral"/>
              </a:rPr>
              <a:t>systematic integration</a:t>
            </a:r>
            <a:r>
              <a:rPr sz="1162" b="0" i="0">
                <a:solidFill>
                  <a:srgbClr val="4A413A"/>
                </a:solidFill>
                <a:latin typeface="Spectral"/>
              </a:rPr>
              <a:t> in GLAM and Digital-Humanities workflows: access, description, indexing, research assistance.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775" y="1600200"/>
            <a:ext cx="5191125" cy="1857375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775" y="1600200"/>
            <a:ext cx="38100" cy="18573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6525" y="1828800"/>
            <a:ext cx="4676775" cy="147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CONVERGENCE 02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Benchmarks are saturating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4A413A"/>
                </a:solidFill>
                <a:latin typeface="Spectral"/>
              </a:rPr>
              <a:t>General-purpose suites hit near-ceiling performance, eroding their discriminative value and pushing the field toward </a:t>
            </a:r>
            <a:r>
              <a:rPr sz="1162" b="0" i="1">
                <a:solidFill>
                  <a:srgbClr val="B0703A"/>
                </a:solidFill>
                <a:latin typeface="Spectral"/>
              </a:rPr>
              <a:t>“frontier”</a:t>
            </a:r>
            <a:r>
              <a:rPr sz="1162" b="0" i="0">
                <a:solidFill>
                  <a:srgbClr val="4A413A"/>
                </a:solidFill>
                <a:latin typeface="Spectral"/>
              </a:rPr>
              <a:t> evaluations.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3724275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</a:pPr>
            <a:r>
              <a:rPr sz="1575" b="0" i="0">
                <a:solidFill>
                  <a:srgbClr val="4A413A"/>
                </a:solidFill>
                <a:latin typeface="Spectral"/>
              </a:rPr>
              <a:t>So the question is not </a:t>
            </a:r>
            <a:r>
              <a:rPr sz="1575" b="0" i="1">
                <a:solidFill>
                  <a:srgbClr val="B0703A"/>
                </a:solidFill>
                <a:latin typeface="Spectral"/>
              </a:rPr>
              <a:t>“which model is better?”</a:t>
            </a:r>
            <a:r>
              <a:rPr sz="1575" b="0" i="0">
                <a:solidFill>
                  <a:srgbClr val="4A413A"/>
                </a:solidFill>
                <a:latin typeface="Spectral"/>
              </a:rPr>
              <a:t> —</a:t>
            </a:r>
          </a:p>
          <a:p>
            <a:pPr algn="ctr">
              <a:lnSpc>
                <a:spcPct val="145000"/>
              </a:lnSpc>
            </a:pPr>
            <a:r>
              <a:rPr sz="1575" b="0" i="0">
                <a:solidFill>
                  <a:srgbClr val="4A413A"/>
                </a:solidFill>
                <a:latin typeface="Spectral"/>
              </a:rPr>
              <a:t>but </a:t>
            </a:r>
            <a:r>
              <a:rPr sz="1575" b="1" i="0">
                <a:solidFill>
                  <a:srgbClr val="5E2222"/>
                </a:solidFill>
                <a:latin typeface="Spectral"/>
              </a:rPr>
              <a:t>“what are we measuring, and at what epistemic cost?”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THE CORE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A benchmark is never a neutral ruler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1781175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1714500"/>
            <a:ext cx="44767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Benchmarks are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technical and epistemic tools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: they don’t just check fit — they </a:t>
            </a:r>
            <a:r>
              <a:rPr sz="1350" b="0" i="1">
                <a:solidFill>
                  <a:srgbClr val="B0703A"/>
                </a:solidFill>
                <a:latin typeface="Spectral"/>
              </a:rPr>
              <a:t>define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what counts as “understanding”.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2809875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2743200"/>
            <a:ext cx="44767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They enable comparability, but can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mislead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where correctness is contextual, interpretive, and inseparable from 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3838575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3771900"/>
            <a:ext cx="44767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Headline scores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overstate practical capability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— they under-specify provenance, evidence and ambiguity.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4867275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5850" y="4800600"/>
            <a:ext cx="44767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And they rarely reflect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end-to-end pipeline behaviour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in real institutions.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72250" y="2381250"/>
            <a:ext cx="4762500" cy="2095500"/>
          </a:xfrm>
          <a:prstGeom prst="roundRect">
            <a:avLst>
              <a:gd name="adj" fmla="val 5000"/>
            </a:avLst>
          </a:prstGeom>
          <a:solidFill>
            <a:srgbClr val="21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72250" y="2381250"/>
            <a:ext cx="38100" cy="20955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8950" y="2628900"/>
            <a:ext cx="4267200" cy="167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750"/>
              </a:spcAft>
            </a:pPr>
            <a:r>
              <a:rPr sz="900" b="1" i="0">
                <a:solidFill>
                  <a:srgbClr val="C99463"/>
                </a:solidFill>
                <a:latin typeface="IBM Plex Mono"/>
              </a:rPr>
              <a:t>THE GAP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4EDE0"/>
                </a:solidFill>
                <a:latin typeface="Fraunces"/>
              </a:rPr>
              <a:t>Quantitative score</a:t>
            </a:r>
          </a:p>
          <a:p>
            <a:pPr algn="l">
              <a:lnSpc>
                <a:spcPct val="110000"/>
              </a:lnSpc>
              <a:spcAft>
                <a:spcPts val="750"/>
              </a:spcAft>
            </a:pPr>
            <a:r>
              <a:rPr sz="1800" b="1" i="0">
                <a:solidFill>
                  <a:srgbClr val="F4EDE0"/>
                </a:solidFill>
                <a:latin typeface="Fraunces"/>
              </a:rPr>
              <a:t>    ≠  operational usefulness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CFC3B0"/>
                </a:solidFill>
                <a:latin typeface="Spectral"/>
              </a:rPr>
              <a:t>A recurring distance between what leaderboards reward and what cultural institutions actually need.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7" nodeType="withEffect">
                            <p:stCondLst>
                              <p:cond delay="72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8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9" nodeType="withEffect">
                            <p:stCondLst>
                              <p:cond delay="915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10" nodeType="withEffect">
                            <p:stCondLst>
                              <p:cond delay="101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11" nodeType="withEffect">
                            <p:stCondLst>
                              <p:cond delay="1105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SCOPE &amp; WORKING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Three material types, three ways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447800"/>
            <a:ext cx="1038225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425" b="1" i="0">
                <a:solidFill>
                  <a:srgbClr val="5E2222"/>
                </a:solidFill>
                <a:latin typeface="Spectral"/>
              </a:rPr>
              <a:t>CH, pragmatically: </a:t>
            </a:r>
            <a:r>
              <a:rPr sz="1425" b="0" i="0">
                <a:solidFill>
                  <a:srgbClr val="4A413A"/>
                </a:solidFill>
                <a:latin typeface="Spectral"/>
              </a:rPr>
              <a:t>museums, archives, libraries and art-historical contexts — plus the infrastructures that represent them </a:t>
            </a:r>
            <a:r>
              <a:rPr sz="1200" b="0" i="0">
                <a:solidFill>
                  <a:srgbClr val="B0703A"/>
                </a:solidFill>
                <a:latin typeface="IBM Plex Mono"/>
              </a:rPr>
              <a:t>(knowledge graphs · metadata · thesauri · search)</a:t>
            </a:r>
            <a:r>
              <a:rPr sz="1425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286000"/>
            <a:ext cx="3352800" cy="1905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2286000"/>
            <a:ext cx="38100" cy="19050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2514600"/>
            <a:ext cx="28765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MATERIAL TYPE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Structured data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4A413A"/>
                </a:solidFill>
                <a:latin typeface="Spectral"/>
              </a:rPr>
              <a:t>Knowledge graphs &amp; linked data — collections, authorities, events, relations.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6800" y="3771900"/>
            <a:ext cx="981075" cy="2286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790950"/>
            <a:ext cx="98107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0" i="0">
                <a:solidFill>
                  <a:srgbClr val="5E2222"/>
                </a:solidFill>
                <a:latin typeface="IBM Plex Mono"/>
              </a:rPr>
              <a:t>Part 1 · KGQA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450" y="2286000"/>
            <a:ext cx="3352800" cy="1905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2450" y="2286000"/>
            <a:ext cx="38100" cy="19050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2514600"/>
            <a:ext cx="28765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MATERIAL TYPE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Images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4A413A"/>
                </a:solidFill>
                <a:latin typeface="Spectral"/>
              </a:rPr>
              <a:t>Artworks &amp; exhibits demanding symbolic and interpretive reading.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9150" y="37719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9150" y="37909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0" i="0">
                <a:solidFill>
                  <a:srgbClr val="5E2222"/>
                </a:solidFill>
                <a:latin typeface="IBM Plex Mono"/>
              </a:rPr>
              <a:t>Part 2 · VQA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2286000"/>
            <a:ext cx="3352800" cy="1905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4800" y="2286000"/>
            <a:ext cx="38100" cy="19050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514600"/>
            <a:ext cx="2876550" cy="1047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MATERIAL TYPE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Unstructured text</a:t>
            </a:r>
          </a:p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4A413A"/>
                </a:solidFill>
                <a:latin typeface="Spectral"/>
              </a:rPr>
              <a:t>Catalogue prose, finding aids, correspondence, OCR’d 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1500" y="3771900"/>
            <a:ext cx="1314450" cy="2286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500" y="3790950"/>
            <a:ext cx="131445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0" i="0">
                <a:solidFill>
                  <a:srgbClr val="5E2222"/>
                </a:solidFill>
                <a:latin typeface="IBM Plex Mono"/>
              </a:rPr>
              <a:t>Part 3 ·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476750"/>
            <a:ext cx="105918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8A7F71"/>
                </a:solidFill>
                <a:latin typeface="Spectral"/>
              </a:rPr>
              <a:t>LLMs enter CH workflows three ways  →  </a:t>
            </a:r>
            <a:r>
              <a:rPr sz="1200" b="1" i="0">
                <a:solidFill>
                  <a:srgbClr val="4A413A"/>
                </a:solidFill>
                <a:latin typeface="Spectral"/>
              </a:rPr>
              <a:t>(i)</a:t>
            </a:r>
            <a:r>
              <a:rPr sz="1200" b="0" i="0">
                <a:solidFill>
                  <a:srgbClr val="8A7F71"/>
                </a:solidFill>
                <a:latin typeface="Spectral"/>
              </a:rPr>
              <a:t> narrative / descriptive generation  ·  </a:t>
            </a:r>
            <a:r>
              <a:rPr sz="1200" b="1" i="0">
                <a:solidFill>
                  <a:srgbClr val="4A413A"/>
                </a:solidFill>
                <a:latin typeface="Spectral"/>
              </a:rPr>
              <a:t>(ii)</a:t>
            </a:r>
            <a:r>
              <a:rPr sz="1200" b="0" i="0">
                <a:solidFill>
                  <a:srgbClr val="8A7F71"/>
                </a:solidFill>
                <a:latin typeface="Spectral"/>
              </a:rPr>
              <a:t> extraction into structured fields  ·  </a:t>
            </a:r>
            <a:r>
              <a:rPr sz="1200" b="1" i="0">
                <a:solidFill>
                  <a:srgbClr val="4A413A"/>
                </a:solidFill>
                <a:latin typeface="Spectral"/>
              </a:rPr>
              <a:t>(iii)</a:t>
            </a:r>
            <a:r>
              <a:rPr sz="1200" b="0" i="0">
                <a:solidFill>
                  <a:srgbClr val="8A7F71"/>
                </a:solidFill>
                <a:latin typeface="Spectral"/>
              </a:rPr>
              <a:t> tool- &amp; retrieval-mediated use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7" nodeType="withEffect">
                            <p:stCondLst>
                              <p:cond delay="72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09600"/>
            <a:ext cx="247650" cy="19050"/>
          </a:xfrm>
          <a:prstGeom prst="rect">
            <a:avLst/>
          </a:prstGeom>
          <a:solidFill>
            <a:srgbClr val="C99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524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99463"/>
                </a:solidFill>
                <a:latin typeface="IBM Plex Mono"/>
              </a:rPr>
              <a:t>PART 1 OF 3 — 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81250"/>
            <a:ext cx="95250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4EDE0"/>
                </a:solidFill>
                <a:latin typeface="Fraunces"/>
              </a:rPr>
              <a:t>Knowledge Graph Question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476750"/>
            <a:ext cx="85725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FC3B0"/>
                </a:solidFill>
                <a:latin typeface="Spectral"/>
              </a:rPr>
              <a:t>Can a system translate a domain question into an </a:t>
            </a:r>
            <a:r>
              <a:rPr sz="1500" b="0" i="1">
                <a:solidFill>
                  <a:srgbClr val="C99463"/>
                </a:solidFill>
                <a:latin typeface="Spectral"/>
              </a:rPr>
              <a:t>executable</a:t>
            </a:r>
            <a:r>
              <a:rPr sz="1500" b="0" i="0">
                <a:solidFill>
                  <a:srgbClr val="CFC3B0"/>
                </a:solidFill>
                <a:latin typeface="Spectral"/>
              </a:rPr>
              <a:t> graph query (SPARQL) that respects the target schema, ontology and modelling choices?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KGQA · THREE SUB-TRENDS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From query execution to requirements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666875"/>
            <a:ext cx="3352800" cy="3429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666875"/>
            <a:ext cx="38100" cy="34290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1876425"/>
            <a:ext cx="2876550" cy="276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TREND 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Ontology text-to-SPARQL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25" b="0" i="0">
                <a:solidFill>
                  <a:srgbClr val="4A413A"/>
                </a:solidFill>
                <a:latin typeface="Spectral"/>
              </a:rPr>
              <a:t>Path-based prompting over </a:t>
            </a:r>
            <a:r>
              <a:rPr sz="1125" b="1" i="0">
                <a:solidFill>
                  <a:srgbClr val="211C18"/>
                </a:solidFill>
                <a:latin typeface="Spectral"/>
              </a:rPr>
              <a:t>CIDOC-CRM</a:t>
            </a:r>
            <a:r>
              <a:rPr sz="1125" b="0" i="0">
                <a:solidFill>
                  <a:srgbClr val="4A413A"/>
                </a:solidFill>
                <a:latin typeface="Spectral"/>
              </a:rPr>
              <a:t>; “difficulty” operationalised as graph-traversal </a:t>
            </a:r>
            <a:r>
              <a:rPr sz="1125" b="0" i="1">
                <a:solidFill>
                  <a:srgbClr val="B0703A"/>
                </a:solidFill>
                <a:latin typeface="Spectral"/>
              </a:rPr>
              <a:t>depth</a:t>
            </a:r>
            <a:r>
              <a:rPr sz="1125" b="0" i="0">
                <a:solidFill>
                  <a:srgbClr val="4A413A"/>
                </a:solidFill>
                <a:latin typeface="Spectral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5E2222"/>
                </a:solidFill>
                <a:latin typeface="Spectral"/>
              </a:rPr>
              <a:t>Caveat: </a:t>
            </a:r>
            <a:r>
              <a:rPr sz="1050" b="0" i="0">
                <a:solidFill>
                  <a:srgbClr val="5E2222"/>
                </a:solidFill>
                <a:latin typeface="Spectral"/>
              </a:rPr>
              <a:t>templated, auto-generated questions lack real-world grounding.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800" y="4714875"/>
            <a:ext cx="409575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4733925"/>
            <a:ext cx="409575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TCRMQ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3525" y="4714875"/>
            <a:ext cx="122682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3525" y="4733925"/>
            <a:ext cx="122682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CIDOC-QA-BENCHMARK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450" y="1666875"/>
            <a:ext cx="3352800" cy="3429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2450" y="1666875"/>
            <a:ext cx="38100" cy="342900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9150" y="1876425"/>
            <a:ext cx="2876550" cy="276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TREND B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Competency Questions</a:t>
            </a:r>
          </a:p>
          <a:p>
            <a:pPr algn="l">
              <a:lnSpc>
                <a:spcPct val="145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NL requirements that scope &amp; validate an ontology — anchoring evaluation to </a:t>
            </a:r>
            <a:r>
              <a:rPr sz="1125" b="1" i="0">
                <a:solidFill>
                  <a:srgbClr val="211C18"/>
                </a:solidFill>
                <a:latin typeface="Spectral"/>
              </a:rPr>
              <a:t>documented user needs</a:t>
            </a:r>
            <a:r>
              <a:rPr sz="1125" b="0" i="0">
                <a:solidFill>
                  <a:srgbClr val="4A413A"/>
                </a:solidFill>
                <a:latin typeface="Spectral"/>
              </a:rPr>
              <a:t> and real specialist inquiry.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4714875"/>
            <a:ext cx="34671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9150" y="4733925"/>
            <a:ext cx="34671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ArCo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3010" y="4714875"/>
            <a:ext cx="34671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3010" y="4733925"/>
            <a:ext cx="34671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Zeri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6870" y="4714875"/>
            <a:ext cx="34671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6870" y="4733925"/>
            <a:ext cx="34671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HiCO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0730" y="4714875"/>
            <a:ext cx="110109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0730" y="4733925"/>
            <a:ext cx="110109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Polifonia · IDEA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800" y="1666875"/>
            <a:ext cx="3352800" cy="342900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4800" y="1666875"/>
            <a:ext cx="38100" cy="342900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1500" y="1876425"/>
            <a:ext cx="2876550" cy="276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TREND C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Benchmarking the benchmark</a:t>
            </a:r>
          </a:p>
          <a:p>
            <a:pPr algn="l">
              <a:lnSpc>
                <a:spcPct val="145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A “meta” step: making </a:t>
            </a:r>
            <a:r>
              <a:rPr sz="1125" b="1" i="0">
                <a:solidFill>
                  <a:srgbClr val="211C18"/>
                </a:solidFill>
                <a:latin typeface="Spectral"/>
              </a:rPr>
              <a:t>CQ generation itself</a:t>
            </a:r>
            <a:r>
              <a:rPr sz="1125" b="0" i="0">
                <a:solidFill>
                  <a:srgbClr val="4A413A"/>
                </a:solidFill>
                <a:latin typeface="Spectral"/>
              </a:rPr>
              <a:t> comparable. Upstream choices shape the meaning of every downstream score.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500" y="4714875"/>
            <a:ext cx="598170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500" y="4733925"/>
            <a:ext cx="59817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Bench4KE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6820" y="4714875"/>
            <a:ext cx="409575" cy="20955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20" y="4733925"/>
            <a:ext cx="409575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AskCQ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09600"/>
            <a:ext cx="247650" cy="19050"/>
          </a:xfrm>
          <a:prstGeom prst="rect">
            <a:avLst/>
          </a:prstGeom>
          <a:solidFill>
            <a:srgbClr val="C99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524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99463"/>
                </a:solidFill>
                <a:latin typeface="IBM Plex Mono"/>
              </a:rPr>
              <a:t>PART 2 OF 3 — VISUAL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81250"/>
            <a:ext cx="95250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4EDE0"/>
                </a:solidFill>
                <a:latin typeface="Fraunces"/>
              </a:rPr>
              <a:t>Visual Question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476750"/>
            <a:ext cx="85725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FC3B0"/>
                </a:solidFill>
                <a:latin typeface="Spectral"/>
              </a:rPr>
              <a:t>Can a system move beyond surface features to the </a:t>
            </a:r>
            <a:r>
              <a:rPr sz="1500" b="0" i="1">
                <a:solidFill>
                  <a:srgbClr val="C99463"/>
                </a:solidFill>
                <a:latin typeface="Spectral"/>
              </a:rPr>
              <a:t>symbolic interpretation</a:t>
            </a:r>
            <a:r>
              <a:rPr sz="1500" b="0" i="0">
                <a:solidFill>
                  <a:srgbClr val="CFC3B0"/>
                </a:solidFill>
                <a:latin typeface="Spectral"/>
              </a:rPr>
              <a:t> and narrative inference artworks demand — when accuracy degrades systematically as reasoning complexity rises?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VQA · ACCURACY &amp; REASONING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Accuracy decays as reasoning deepens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19240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1857375"/>
            <a:ext cx="4476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1" i="0">
                <a:solidFill>
                  <a:srgbClr val="211C18"/>
                </a:solidFill>
                <a:latin typeface="Spectral"/>
              </a:rPr>
              <a:t>Early VQA </a:t>
            </a:r>
            <a:r>
              <a:rPr sz="1050" b="0" i="0">
                <a:solidFill>
                  <a:srgbClr val="B0703A"/>
                </a:solidFill>
                <a:latin typeface="IBM Plex Mono"/>
              </a:rPr>
              <a:t>(Antol 2015; AQUA)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: synthetic Q–A pairs, exact-match scoring → 35–60% reflects </a:t>
            </a:r>
            <a:r>
              <a:rPr sz="1350" b="0" i="1">
                <a:solidFill>
                  <a:srgbClr val="B0703A"/>
                </a:solidFill>
                <a:latin typeface="Spectral"/>
              </a:rPr>
              <a:t>pattern exploitation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, not visual reasoning.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308610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019425"/>
            <a:ext cx="4476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1" i="0">
                <a:solidFill>
                  <a:srgbClr val="211C18"/>
                </a:solidFill>
                <a:latin typeface="Spectral"/>
              </a:rPr>
              <a:t>New generation </a:t>
            </a:r>
            <a:r>
              <a:rPr sz="1050" b="0" i="0">
                <a:solidFill>
                  <a:srgbClr val="B0703A"/>
                </a:solidFill>
                <a:latin typeface="IBM Plex Mono"/>
              </a:rPr>
              <a:t>(VQArt-Bench)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: symbolic interpretation &amp; narrative inference, zero-shot.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42481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4181475"/>
            <a:ext cx="4476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Accuracy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degrades systematically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as reasoning complexity rises — models stay anchored to surface features.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105275"/>
            <a:ext cx="36385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600" y="4029075"/>
            <a:ext cx="323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3529012"/>
            <a:ext cx="36385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600" y="3452812"/>
            <a:ext cx="323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600" y="2952750"/>
            <a:ext cx="36385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600" y="2876550"/>
            <a:ext cx="323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0" y="2376488"/>
            <a:ext cx="36385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0" y="2300288"/>
            <a:ext cx="323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75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1800225"/>
            <a:ext cx="36385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600" y="1724025"/>
            <a:ext cx="323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100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4105275"/>
            <a:ext cx="3638550" cy="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86600" y="1800225"/>
            <a:ext cx="0" cy="230505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86600" y="2307336"/>
            <a:ext cx="1212850" cy="461010"/>
          </a:xfrm>
          <a:prstGeom prst="bentConnector3">
            <a:avLst/>
          </a:prstGeom>
          <a:ln w="38100">
            <a:solidFill>
              <a:srgbClr val="7A2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99450" y="2768346"/>
            <a:ext cx="1212850" cy="414909"/>
          </a:xfrm>
          <a:prstGeom prst="bentConnector3">
            <a:avLst/>
          </a:prstGeom>
          <a:ln w="38100">
            <a:solidFill>
              <a:srgbClr val="7A2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12300" y="3183255"/>
            <a:ext cx="1212850" cy="368808"/>
          </a:xfrm>
          <a:prstGeom prst="bentConnector3">
            <a:avLst/>
          </a:prstGeom>
          <a:ln w="38100">
            <a:solidFill>
              <a:srgbClr val="7A2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038975" y="2259711"/>
            <a:ext cx="95250" cy="95250"/>
          </a:xfrm>
          <a:prstGeom prst="ellipse">
            <a:avLst/>
          </a:prstGeom>
          <a:solidFill>
            <a:srgbClr val="B0703A"/>
          </a:solidFill>
          <a:ln w="19050">
            <a:solidFill>
              <a:srgbClr val="F4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0350" y="420052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62" b="0" i="0">
                <a:solidFill>
                  <a:srgbClr val="4A413A"/>
                </a:solidFill>
                <a:latin typeface="IBM Plex Mono"/>
              </a:rPr>
              <a:t>Recognition</a:t>
            </a:r>
          </a:p>
        </p:txBody>
      </p:sp>
      <p:sp>
        <p:nvSpPr>
          <p:cNvPr id="29" name="Oval 28"/>
          <p:cNvSpPr/>
          <p:nvPr/>
        </p:nvSpPr>
        <p:spPr>
          <a:xfrm>
            <a:off x="8251825" y="2720721"/>
            <a:ext cx="95250" cy="95250"/>
          </a:xfrm>
          <a:prstGeom prst="ellipse">
            <a:avLst/>
          </a:prstGeom>
          <a:solidFill>
            <a:srgbClr val="B0703A"/>
          </a:solidFill>
          <a:ln w="19050">
            <a:solidFill>
              <a:srgbClr val="F4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3200" y="420052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62" b="0" i="0">
                <a:solidFill>
                  <a:srgbClr val="4A413A"/>
                </a:solidFill>
                <a:latin typeface="IBM Plex Mono"/>
              </a:rPr>
              <a:t>Attribution</a:t>
            </a:r>
          </a:p>
        </p:txBody>
      </p:sp>
      <p:sp>
        <p:nvSpPr>
          <p:cNvPr id="31" name="Oval 30"/>
          <p:cNvSpPr/>
          <p:nvPr/>
        </p:nvSpPr>
        <p:spPr>
          <a:xfrm>
            <a:off x="9464675" y="3135630"/>
            <a:ext cx="95250" cy="95250"/>
          </a:xfrm>
          <a:prstGeom prst="ellipse">
            <a:avLst/>
          </a:prstGeom>
          <a:solidFill>
            <a:srgbClr val="B0703A"/>
          </a:solidFill>
          <a:ln w="19050">
            <a:solidFill>
              <a:srgbClr val="F4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6050" y="420052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62" b="0" i="0">
                <a:solidFill>
                  <a:srgbClr val="4A413A"/>
                </a:solidFill>
                <a:latin typeface="IBM Plex Mono"/>
              </a:rPr>
              <a:t>Symbolic</a:t>
            </a:r>
          </a:p>
        </p:txBody>
      </p:sp>
      <p:sp>
        <p:nvSpPr>
          <p:cNvPr id="33" name="Oval 32"/>
          <p:cNvSpPr/>
          <p:nvPr/>
        </p:nvSpPr>
        <p:spPr>
          <a:xfrm>
            <a:off x="10677525" y="3504438"/>
            <a:ext cx="95250" cy="95250"/>
          </a:xfrm>
          <a:prstGeom prst="ellipse">
            <a:avLst/>
          </a:prstGeom>
          <a:solidFill>
            <a:srgbClr val="B0703A"/>
          </a:solidFill>
          <a:ln w="19050">
            <a:solidFill>
              <a:srgbClr val="F4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8900" y="420052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62" b="0" i="0">
                <a:solidFill>
                  <a:srgbClr val="4A413A"/>
                </a:solidFill>
                <a:latin typeface="IBM Plex Mono"/>
              </a:rPr>
              <a:t>Narrative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638675"/>
            <a:ext cx="36385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0" i="0">
                <a:solidFill>
                  <a:srgbClr val="8A7F71"/>
                </a:solidFill>
                <a:latin typeface="IBM Plex Mono"/>
              </a:rPr>
              <a:t>REASONING COMPLEXITY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0" y="5000625"/>
            <a:ext cx="4381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A7F71"/>
                </a:solidFill>
                <a:latin typeface="IBM Plex Mono"/>
              </a:rPr>
              <a:t>Fig. 1 — Accuracy vs. reasoning complexity. </a:t>
            </a:r>
            <a:r>
              <a:rPr sz="900" b="0" i="0">
                <a:solidFill>
                  <a:srgbClr val="B0703A"/>
                </a:solidFill>
                <a:latin typeface="IBM Plex Mono"/>
              </a:rPr>
              <a:t>Schematic of reported trend.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7" nodeType="withEffect">
                            <p:stCondLst>
                              <p:cond delay="72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8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VQA · BROAD VS. DOMAIN-SPECIFIC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Wide coverage, shallow culture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62100" y="4105275"/>
            <a:ext cx="36766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62050" y="4029075"/>
            <a:ext cx="3429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62100" y="3529012"/>
            <a:ext cx="36766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2050" y="3452812"/>
            <a:ext cx="3429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25%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62100" y="2952750"/>
            <a:ext cx="36766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62050" y="2876550"/>
            <a:ext cx="3429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62100" y="2376488"/>
            <a:ext cx="36766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62050" y="2300288"/>
            <a:ext cx="3429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75%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62100" y="1800225"/>
            <a:ext cx="3676650" cy="0"/>
          </a:xfrm>
          <a:prstGeom prst="bentConnector3">
            <a:avLst/>
          </a:prstGeom>
          <a:ln w="9525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62050" y="1724025"/>
            <a:ext cx="3429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25" b="0" i="0">
                <a:solidFill>
                  <a:srgbClr val="4A413A"/>
                </a:solidFill>
                <a:latin typeface="IBM Plex Mono"/>
              </a:rPr>
              <a:t>100%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62100" y="4105275"/>
            <a:ext cx="3676650" cy="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62100" y="1800225"/>
            <a:ext cx="0" cy="230505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62100" y="2722245"/>
            <a:ext cx="3676650" cy="0"/>
          </a:xfrm>
          <a:prstGeom prst="bentConnector3">
            <a:avLst/>
          </a:prstGeom>
          <a:ln w="16510">
            <a:solidFill>
              <a:srgbClr val="7A2E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14750" y="2531745"/>
            <a:ext cx="15049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7A2E2E"/>
                </a:solidFill>
                <a:latin typeface="IBM Plex Mono"/>
              </a:rPr>
              <a:t>≈ 60% ceiling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52650" y="2145982"/>
            <a:ext cx="438150" cy="1959292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1955482"/>
            <a:ext cx="6286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211C18"/>
                </a:solidFill>
                <a:latin typeface="Spectral"/>
              </a:rP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2150" y="4200525"/>
            <a:ext cx="8191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211C18"/>
                </a:solidFill>
                <a:latin typeface="Spectral"/>
              </a:rPr>
              <a:t>General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2150" y="4352925"/>
            <a:ext cx="81915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7F71"/>
                </a:solidFill>
                <a:latin typeface="Spectral"/>
              </a:rPr>
              <a:t>(broad tasks)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1350" y="2768346"/>
            <a:ext cx="438150" cy="1336929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6100" y="2577846"/>
            <a:ext cx="6286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211C18"/>
                </a:solidFill>
                <a:latin typeface="Spectral"/>
              </a:rPr>
              <a:t>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850" y="4200525"/>
            <a:ext cx="8191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211C18"/>
                </a:solidFill>
                <a:latin typeface="Spectral"/>
              </a:rPr>
              <a:t>MMMU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850" y="4352925"/>
            <a:ext cx="81915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7F71"/>
                </a:solidFill>
                <a:latin typeface="Spectral"/>
              </a:rPr>
              <a:t>humanities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0050" y="2860548"/>
            <a:ext cx="438150" cy="1244727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2670048"/>
            <a:ext cx="6286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211C18"/>
                </a:solidFill>
                <a:latin typeface="Spectral"/>
              </a:rPr>
              <a:t>54%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9550" y="4200525"/>
            <a:ext cx="8191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211C18"/>
                </a:solidFill>
                <a:latin typeface="Spectral"/>
              </a:rPr>
              <a:t>HSSBench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9550" y="4352925"/>
            <a:ext cx="81915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7F71"/>
                </a:solidFill>
                <a:latin typeface="Spectral"/>
              </a:rPr>
              <a:t>humanities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5000625"/>
            <a:ext cx="4381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A7F71"/>
                </a:solidFill>
                <a:latin typeface="IBM Plex Mono"/>
              </a:rPr>
              <a:t>Fig. 2 — Humanities accuracy on broad benchmarks. </a:t>
            </a:r>
            <a:r>
              <a:rPr sz="900" b="0" i="0">
                <a:solidFill>
                  <a:srgbClr val="B0703A"/>
                </a:solidFill>
                <a:latin typeface="IBM Plex Mono"/>
              </a:rPr>
              <a:t>Schematic (≈ ≤ 60%).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0" y="201930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1750" y="1952625"/>
            <a:ext cx="4857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Large cross-disciplinary suites </a:t>
            </a:r>
            <a:r>
              <a:rPr sz="1050" b="0" i="0">
                <a:solidFill>
                  <a:srgbClr val="B0703A"/>
                </a:solidFill>
                <a:latin typeface="IBM Plex Mono"/>
              </a:rPr>
              <a:t>(MMMU, HSSBench)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include CH — but humanities accuracy sits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around or below 60%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0" y="31432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1750" y="3076575"/>
            <a:ext cx="4857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A structural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trade-off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: broad coverage </a:t>
            </a:r>
            <a:r>
              <a:rPr sz="1350" b="0" i="1">
                <a:solidFill>
                  <a:srgbClr val="B0703A"/>
                </a:solidFill>
                <a:latin typeface="Spectral"/>
              </a:rPr>
              <a:t>vs.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cultural specificity.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0" y="426720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1750" y="4200525"/>
            <a:ext cx="485775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→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Domain-specific benchmarks remain essential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for testing contextual grounding and interpretive reasoning.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7" nodeType="withEffect">
                            <p:stCondLst>
                              <p:cond delay="72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8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09600"/>
            <a:ext cx="247650" cy="19050"/>
          </a:xfrm>
          <a:prstGeom prst="rect">
            <a:avLst/>
          </a:prstGeom>
          <a:solidFill>
            <a:srgbClr val="C99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524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99463"/>
                </a:solidFill>
                <a:latin typeface="IBM Plex Mono"/>
              </a:rPr>
              <a:t>PART 3 OF 3 — UNSTRUCTURED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81250"/>
            <a:ext cx="9525000" cy="171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4EDE0"/>
                </a:solidFill>
                <a:latin typeface="Fraunces"/>
              </a:rPr>
              <a:t>Question Answering over Unstructured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476750"/>
            <a:ext cx="85725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FC3B0"/>
                </a:solidFill>
                <a:latin typeface="Spectral"/>
              </a:rPr>
              <a:t>When the source itself fights back — catalogue prose, finding aids, correspondence, OCR’d primary sources — under </a:t>
            </a:r>
            <a:r>
              <a:rPr sz="1500" b="0" i="1">
                <a:solidFill>
                  <a:srgbClr val="C99463"/>
                </a:solidFill>
                <a:latin typeface="Spectral"/>
              </a:rPr>
              <a:t>orthographic variation, multilinguality</a:t>
            </a:r>
            <a:r>
              <a:rPr sz="1500" b="0" i="0">
                <a:solidFill>
                  <a:srgbClr val="CFC3B0"/>
                </a:solidFill>
                <a:latin typeface="Spectral"/>
              </a:rPr>
              <a:t>, and the demand that every output stays traceable to a document and page.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UNSTRUCTURED DOCUMENTS · THREE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Not just answers — how systems 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600200"/>
            <a:ext cx="10591800" cy="1123950"/>
          </a:xfrm>
          <a:prstGeom prst="roundRect">
            <a:avLst>
              <a:gd name="adj" fmla="val 6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1650"/>
            <a:ext cx="514350" cy="838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B0703A"/>
                </a:solidFill>
                <a:latin typeface="Fraunce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1771650"/>
            <a:ext cx="9620250" cy="838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25" b="1" i="0">
                <a:solidFill>
                  <a:srgbClr val="211C18"/>
                </a:solidFill>
                <a:latin typeface="Fraunces"/>
              </a:rPr>
              <a:t>QA over historical collections</a:t>
            </a:r>
          </a:p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Retrieval &amp; grounding implicit. Difficulty + time-sensitivity; same sources across raw OCR / corrected OCR / page images expose where pipelines break.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4000" y="2438400"/>
            <a:ext cx="723900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4000" y="2447925"/>
            <a:ext cx="723900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ArchivalQA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5050" y="2438400"/>
            <a:ext cx="1352550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5050" y="2447925"/>
            <a:ext cx="1352550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ChroniclingAmericaQA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" y="2857500"/>
            <a:ext cx="10591800" cy="1123950"/>
          </a:xfrm>
          <a:prstGeom prst="roundRect">
            <a:avLst>
              <a:gd name="adj" fmla="val 6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28950"/>
            <a:ext cx="514350" cy="838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B0703A"/>
                </a:solidFill>
                <a:latin typeface="Fraunce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3028950"/>
            <a:ext cx="9620250" cy="838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25" b="1" i="0">
                <a:solidFill>
                  <a:srgbClr val="211C18"/>
                </a:solidFill>
                <a:latin typeface="Fraunces"/>
              </a:rPr>
              <a:t>Upstream extraction &amp; normalization</a:t>
            </a:r>
          </a:p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“Making text usable” is itself benchmarked — field-level extraction from index cards before any QA can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4000" y="3695700"/>
            <a:ext cx="1666875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0" y="3705225"/>
            <a:ext cx="1666875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Humanities Data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8025" y="3695700"/>
            <a:ext cx="912495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8025" y="3705225"/>
            <a:ext cx="912495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Zettelkatalog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4114800"/>
            <a:ext cx="10591800" cy="1123950"/>
          </a:xfrm>
          <a:prstGeom prst="roundRect">
            <a:avLst>
              <a:gd name="adj" fmla="val 6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86250"/>
            <a:ext cx="514350" cy="838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B0703A"/>
                </a:solidFill>
                <a:latin typeface="Fraunce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4286250"/>
            <a:ext cx="9620250" cy="838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25" b="1" i="0">
                <a:solidFill>
                  <a:srgbClr val="211C18"/>
                </a:solidFill>
                <a:latin typeface="Fraunces"/>
              </a:rPr>
              <a:t>Evidential, relational claims</a:t>
            </a:r>
          </a:p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Who, where, when — relational, temporally-qualified extraction. DH-facing RAG pairs automatic scoring with expert judgement.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24000" y="4953000"/>
            <a:ext cx="661035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4000" y="4962525"/>
            <a:ext cx="661035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HIPE-2026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2185" y="4953000"/>
            <a:ext cx="661035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2185" y="4962525"/>
            <a:ext cx="661035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Topic-RAG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0370" y="4953000"/>
            <a:ext cx="535305" cy="190500"/>
          </a:xfrm>
          <a:prstGeom prst="roundRect">
            <a:avLst>
              <a:gd name="adj" fmla="val 50000"/>
            </a:avLst>
          </a:prstGeom>
          <a:solidFill>
            <a:srgbClr val="F4EDE0"/>
          </a:solidFill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0370" y="4962525"/>
            <a:ext cx="535305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5E2222"/>
                </a:solidFill>
                <a:latin typeface="IBM Plex Mono"/>
              </a:rPr>
              <a:t>FolkRAG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CROSS-CUTTING METHODOLOGY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Can we even trust the score?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714500"/>
            <a:ext cx="5191125" cy="257175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1714500"/>
            <a:ext cx="38100" cy="25717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850" y="1962150"/>
            <a:ext cx="4676775" cy="209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75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VALIDITY THREAT</a:t>
            </a:r>
          </a:p>
          <a:p>
            <a:pPr algn="l">
              <a:lnSpc>
                <a:spcPct val="140000"/>
              </a:lnSpc>
              <a:spcAft>
                <a:spcPts val="75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Contamination &amp; memorization</a:t>
            </a:r>
          </a:p>
          <a:p>
            <a:pPr algn="l">
              <a:lnSpc>
                <a:spcPct val="145000"/>
              </a:lnSpc>
              <a:spcAft>
                <a:spcPts val="750"/>
              </a:spcAft>
            </a:pPr>
            <a:r>
              <a:rPr sz="1200" b="0" i="0">
                <a:solidFill>
                  <a:srgbClr val="4A413A"/>
                </a:solidFill>
                <a:latin typeface="Spectral"/>
              </a:rPr>
              <a:t>Public CH sources are </a:t>
            </a:r>
            <a:r>
              <a:rPr sz="1200" b="1" i="0">
                <a:solidFill>
                  <a:srgbClr val="211C18"/>
                </a:solidFill>
                <a:latin typeface="Spectral"/>
              </a:rPr>
              <a:t>plausibly in pre-training data</a:t>
            </a:r>
            <a:r>
              <a:rPr sz="1200" b="0" i="0">
                <a:solidFill>
                  <a:srgbClr val="4A413A"/>
                </a:solidFill>
                <a:latin typeface="Spectral"/>
              </a:rPr>
              <a:t>; some models reconstruct test sets from memory, not reasoning.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B0703A"/>
                </a:solidFill>
                <a:latin typeface="Spectral"/>
              </a:rPr>
              <a:t>→ Anti-leakage strategies, e.g. </a:t>
            </a:r>
            <a:r>
              <a:rPr sz="1087" b="0" i="1">
                <a:solidFill>
                  <a:srgbClr val="B0703A"/>
                </a:solidFill>
                <a:latin typeface="Spectral"/>
              </a:rPr>
              <a:t>never-web-indexed</a:t>
            </a:r>
            <a:r>
              <a:rPr sz="1087" b="0" i="0">
                <a:solidFill>
                  <a:srgbClr val="B0703A"/>
                </a:solidFill>
                <a:latin typeface="Spectral"/>
              </a:rPr>
              <a:t> reference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775" y="1714500"/>
            <a:ext cx="5191125" cy="2571750"/>
          </a:xfrm>
          <a:prstGeom prst="roundRect">
            <a:avLst>
              <a:gd name="adj" fmla="val 5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775" y="1714500"/>
            <a:ext cx="38100" cy="2571750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6525" y="1962150"/>
            <a:ext cx="4676775" cy="209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750"/>
              </a:spcAft>
            </a:pPr>
            <a:r>
              <a:rPr sz="900" b="1" i="0">
                <a:solidFill>
                  <a:srgbClr val="7A2E2E"/>
                </a:solidFill>
                <a:latin typeface="IBM Plex Mono"/>
              </a:rPr>
              <a:t>ROBUSTNESS AXIS</a:t>
            </a:r>
          </a:p>
          <a:p>
            <a:pPr algn="l">
              <a:lnSpc>
                <a:spcPct val="140000"/>
              </a:lnSpc>
              <a:spcAft>
                <a:spcPts val="750"/>
              </a:spcAft>
            </a:pPr>
            <a:r>
              <a:rPr sz="1575" b="1" i="0">
                <a:solidFill>
                  <a:srgbClr val="211C18"/>
                </a:solidFill>
                <a:latin typeface="Fraunces"/>
              </a:rPr>
              <a:t>Primary-source noise</a:t>
            </a:r>
          </a:p>
          <a:p>
            <a:pPr algn="l">
              <a:lnSpc>
                <a:spcPct val="145000"/>
              </a:lnSpc>
              <a:spcAft>
                <a:spcPts val="750"/>
              </a:spcAft>
            </a:pPr>
            <a:r>
              <a:rPr sz="1200" b="0" i="0">
                <a:solidFill>
                  <a:srgbClr val="4A413A"/>
                </a:solidFill>
                <a:latin typeface="Spectral"/>
              </a:rPr>
              <a:t>OCR errors &amp; layout effects treated as an </a:t>
            </a:r>
            <a:r>
              <a:rPr sz="1200" b="1" i="0">
                <a:solidFill>
                  <a:srgbClr val="211C18"/>
                </a:solidFill>
                <a:latin typeface="Spectral"/>
              </a:rPr>
              <a:t>explicit robustness axis</a:t>
            </a:r>
            <a:r>
              <a:rPr sz="1200" b="0" i="0">
                <a:solidFill>
                  <a:srgbClr val="4A413A"/>
                </a:solidFill>
                <a:latin typeface="Spectral"/>
              </a:rPr>
              <a:t> — not assumed away.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B0703A"/>
                </a:solidFill>
                <a:latin typeface="Spectral"/>
              </a:rPr>
              <a:t>→ Keep the task fixed, vary the representation, localize where pipelines break.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CROSS-CUTTING METHODOLOGY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What “knowledge” is being tested?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619250"/>
            <a:ext cx="256222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7A2E2E"/>
                </a:solidFill>
                <a:latin typeface="IBM Plex Mono"/>
              </a:rPr>
              <a:t>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5225" y="1619250"/>
            <a:ext cx="467677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7A2E2E"/>
                </a:solidFill>
                <a:latin typeface="IBM Plex Mono"/>
              </a:rPr>
              <a:t>WHAT IT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1619250"/>
            <a:ext cx="27813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7A2E2E"/>
                </a:solidFill>
                <a:latin typeface="IBM Plex Mono"/>
              </a:rPr>
              <a:t>BENCHMARKS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1905000"/>
            <a:ext cx="105918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52500" y="2057400"/>
            <a:ext cx="252412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211C18"/>
                </a:solidFill>
                <a:latin typeface="Fraunces"/>
              </a:rPr>
              <a:t>Historical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2057400"/>
            <a:ext cx="463867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Scale-first, multilingual, catalogue-aligned — only partially captures interpretive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20574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B0703A"/>
                </a:solidFill>
                <a:latin typeface="IBM Plex Mono"/>
              </a:rPr>
              <a:t>Museum-65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" y="2800350"/>
            <a:ext cx="105918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2500" y="2895600"/>
            <a:ext cx="252412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211C18"/>
                </a:solidFill>
                <a:latin typeface="Fraunces"/>
              </a:rPr>
              <a:t>Cultural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5225" y="2895600"/>
            <a:ext cx="463867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Culture as a measurable bias, not just content — geo-linguistic asymmetries.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28956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B0703A"/>
                </a:solidFill>
                <a:latin typeface="IBM Plex Mono"/>
              </a:rPr>
              <a:t>CulturalVQA · CVQA  (31 langs / 30 countries)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" y="3638550"/>
            <a:ext cx="105918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2500" y="3733800"/>
            <a:ext cx="252412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211C18"/>
                </a:solidFill>
                <a:latin typeface="Fraunces"/>
              </a:rPr>
              <a:t>Expert-level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5225" y="3733800"/>
            <a:ext cx="463867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MCQs over Seshat vs. open-ended primary sources — the gap between apparent and usable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37338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B0703A"/>
                </a:solidFill>
                <a:latin typeface="IBM Plex Mono"/>
              </a:rPr>
              <a:t>HiST-LLM · HistBench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100" y="4476750"/>
            <a:ext cx="105918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2500" y="4572000"/>
            <a:ext cx="252412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75" b="1" i="0">
                <a:solidFill>
                  <a:srgbClr val="211C18"/>
                </a:solidFill>
                <a:latin typeface="Fraunces"/>
              </a:rPr>
              <a:t>Synthetic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5225" y="4572000"/>
            <a:ext cx="463867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4A413A"/>
                </a:solidFill>
                <a:latin typeface="Spectral"/>
              </a:rPr>
              <a:t>Scalable, but risks confining evaluation to the epistemic boundaries of the generating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45720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B0703A"/>
                </a:solidFill>
                <a:latin typeface="IBM Plex Mono"/>
              </a:rPr>
              <a:t>LLM-generated Q&amp;A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0100" y="5314950"/>
            <a:ext cx="10591800" cy="0"/>
          </a:xfrm>
          <a:prstGeom prst="bentConnector3">
            <a:avLst/>
          </a:prstGeom>
          <a:ln w="12700">
            <a:solidFill>
              <a:srgbClr val="D8CC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THE BIFURCATION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00125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The field is quietly splitting in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19240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1857375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1" i="0">
                <a:solidFill>
                  <a:srgbClr val="211C18"/>
                </a:solidFill>
                <a:latin typeface="Spectral"/>
              </a:rPr>
              <a:t>Massive benchmarks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for training &amp; stress-testing </a:t>
            </a:r>
            <a:r>
              <a:rPr sz="1050" b="0" i="0">
                <a:solidFill>
                  <a:srgbClr val="B0703A"/>
                </a:solidFill>
                <a:latin typeface="IBM Plex Mono"/>
              </a:rPr>
              <a:t>(Museum-65)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— optimize for </a:t>
            </a:r>
            <a:r>
              <a:rPr sz="1350" b="0" i="1">
                <a:solidFill>
                  <a:srgbClr val="B0703A"/>
                </a:solidFill>
                <a:latin typeface="Spectral"/>
              </a:rPr>
              <a:t>base capability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28003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2733675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1" i="0">
                <a:solidFill>
                  <a:srgbClr val="211C18"/>
                </a:solidFill>
                <a:latin typeface="Spectral"/>
              </a:rPr>
              <a:t>Small, high-validity benchmarks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for humanities fidelity </a:t>
            </a:r>
            <a:r>
              <a:rPr sz="1050" b="0" i="0">
                <a:solidFill>
                  <a:srgbClr val="B0703A"/>
                </a:solidFill>
                <a:latin typeface="IBM Plex Mono"/>
              </a:rPr>
              <a:t>(CulturalVQA, HistBench)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 — optimize for </a:t>
            </a:r>
            <a:r>
              <a:rPr sz="1350" b="0" i="1">
                <a:solidFill>
                  <a:srgbClr val="B0703A"/>
                </a:solidFill>
                <a:latin typeface="Spectral"/>
              </a:rPr>
              <a:t>practice fidelity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36766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3609975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The community is implicitly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choosing one or the other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4552950"/>
            <a:ext cx="85725" cy="85725"/>
          </a:xfrm>
          <a:prstGeom prst="rect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5850" y="4486275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4A413A"/>
                </a:solidFill>
                <a:latin typeface="Spectral"/>
              </a:rPr>
              <a:t>Bridging them needs </a:t>
            </a:r>
            <a:r>
              <a:rPr sz="1350" b="1" i="0">
                <a:solidFill>
                  <a:srgbClr val="211C18"/>
                </a:solidFill>
                <a:latin typeface="Spectral"/>
              </a:rPr>
              <a:t>end-to-end pipelines, specialized rubrics, anti-contamination</a:t>
            </a:r>
            <a:r>
              <a:rPr sz="1350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96150" y="4476750"/>
            <a:ext cx="3371850" cy="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6150" y="1905000"/>
            <a:ext cx="0" cy="2571750"/>
          </a:xfrm>
          <a:prstGeom prst="bentConnector3">
            <a:avLst/>
          </a:prstGeom>
          <a:ln w="17780">
            <a:solidFill>
              <a:srgbClr val="8A7F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96150" y="4819650"/>
            <a:ext cx="337185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0" i="0">
                <a:solidFill>
                  <a:srgbClr val="8A7F71"/>
                </a:solidFill>
                <a:latin typeface="IBM Plex Mono"/>
              </a:rPr>
              <a:t>SCALE / COVERAGE 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24750" y="2228850"/>
            <a:ext cx="2857500" cy="2019300"/>
          </a:xfrm>
          <a:prstGeom prst="bentConnector3">
            <a:avLst/>
          </a:prstGeom>
          <a:ln w="17780">
            <a:solidFill>
              <a:srgbClr val="D8CC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737217" y="3587115"/>
            <a:ext cx="647700" cy="647700"/>
          </a:xfrm>
          <a:prstGeom prst="ellipse">
            <a:avLst/>
          </a:prstGeom>
          <a:solidFill>
            <a:srgbClr val="B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9567" y="3834765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1" i="0">
                <a:solidFill>
                  <a:srgbClr val="F4EDE0"/>
                </a:solidFill>
                <a:latin typeface="IBM Plex Mono"/>
              </a:rPr>
              <a:t>Museum-65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317" y="4253865"/>
            <a:ext cx="133350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12" b="0" i="0">
                <a:solidFill>
                  <a:srgbClr val="8A7F71"/>
                </a:solidFill>
                <a:latin typeface="IBM Plex Mono"/>
              </a:rPr>
              <a:t>train / stress-test</a:t>
            </a:r>
          </a:p>
        </p:txBody>
      </p:sp>
      <p:sp>
        <p:nvSpPr>
          <p:cNvPr id="21" name="Oval 20"/>
          <p:cNvSpPr/>
          <p:nvPr/>
        </p:nvSpPr>
        <p:spPr>
          <a:xfrm>
            <a:off x="8079105" y="2345055"/>
            <a:ext cx="457200" cy="45720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6205" y="2497455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1" i="0">
                <a:solidFill>
                  <a:srgbClr val="F4EDE0"/>
                </a:solidFill>
                <a:latin typeface="IBM Plex Mono"/>
              </a:rPr>
              <a:t>CulturalVQA</a:t>
            </a:r>
          </a:p>
        </p:txBody>
      </p:sp>
      <p:sp>
        <p:nvSpPr>
          <p:cNvPr id="23" name="Oval 22"/>
          <p:cNvSpPr/>
          <p:nvPr/>
        </p:nvSpPr>
        <p:spPr>
          <a:xfrm>
            <a:off x="7828407" y="2055495"/>
            <a:ext cx="419100" cy="41910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6457" y="2188845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" b="1" i="0">
                <a:solidFill>
                  <a:srgbClr val="F4EDE0"/>
                </a:solidFill>
                <a:latin typeface="IBM Plex Mono"/>
              </a:rPr>
              <a:t>HistBench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207" y="2493645"/>
            <a:ext cx="133350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12" b="0" i="0">
                <a:solidFill>
                  <a:srgbClr val="8A7F71"/>
                </a:solidFill>
                <a:latin typeface="IBM Plex Mono"/>
              </a:rPr>
              <a:t>expert curation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1943100"/>
            <a:ext cx="139065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B0703A"/>
                </a:solidFill>
                <a:latin typeface="IBM Plex Mono"/>
              </a:rPr>
              <a:t>base capability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3300" y="4286250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2E2E"/>
                </a:solidFill>
                <a:latin typeface="IBM Plex Mono"/>
              </a:rPr>
              <a:t>practice fidelity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4953000"/>
            <a:ext cx="4381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A7F71"/>
                </a:solidFill>
                <a:latin typeface="IBM Plex Mono"/>
              </a:rPr>
              <a:t>Fig. 3 — Scale vs. validity. </a:t>
            </a:r>
            <a:r>
              <a:rPr sz="900" b="0" i="0">
                <a:solidFill>
                  <a:srgbClr val="B0703A"/>
                </a:solidFill>
                <a:latin typeface="IBM Plex Mono"/>
              </a:rPr>
              <a:t>Conceptual map.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7" nodeType="withEffect">
                            <p:stCondLst>
                              <p:cond delay="72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8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9" nodeType="withEffect">
                            <p:stCondLst>
                              <p:cond delay="915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10" nodeType="withEffect">
                            <p:stCondLst>
                              <p:cond delay="101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8580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05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GAPS &amp; POINTS OF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876300"/>
            <a:ext cx="10477500" cy="466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1C18"/>
                </a:solidFill>
                <a:latin typeface="Fraunces"/>
              </a:rPr>
              <a:t>Isolated scores ≠ whole-pipeline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1809750"/>
            <a:ext cx="5191125" cy="1143000"/>
          </a:xfrm>
          <a:prstGeom prst="roundRect">
            <a:avLst>
              <a:gd name="adj" fmla="val 8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0125" y="1952625"/>
            <a:ext cx="361950" cy="36195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125" y="2019300"/>
            <a:ext cx="36195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F4EDE0"/>
                </a:solidFill>
                <a:latin typeface="Fraunce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2019300"/>
            <a:ext cx="4333875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75" b="1" i="0">
                <a:solidFill>
                  <a:srgbClr val="211C18"/>
                </a:solidFill>
                <a:latin typeface="Fraunces"/>
              </a:rPr>
              <a:t>Vary input conditions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4A413A"/>
                </a:solidFill>
                <a:latin typeface="Spectral"/>
              </a:rPr>
              <a:t>Clean / noisy / image as </a:t>
            </a:r>
            <a:r>
              <a:rPr sz="1087" b="1" i="0">
                <a:solidFill>
                  <a:srgbClr val="211C18"/>
                </a:solidFill>
                <a:latin typeface="Spectral"/>
              </a:rPr>
              <a:t>standard practice</a:t>
            </a:r>
            <a:r>
              <a:rPr sz="1087" b="0" i="0">
                <a:solidFill>
                  <a:srgbClr val="4A413A"/>
                </a:solidFill>
                <a:latin typeface="Spectral"/>
              </a:rPr>
              <a:t>, not an afterthought.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2675" y="1809750"/>
            <a:ext cx="5191125" cy="1143000"/>
          </a:xfrm>
          <a:prstGeom prst="roundRect">
            <a:avLst>
              <a:gd name="adj" fmla="val 8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62700" y="1952625"/>
            <a:ext cx="361950" cy="36195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2019300"/>
            <a:ext cx="36195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F4EDE0"/>
                </a:solidFill>
                <a:latin typeface="Fraunce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2019300"/>
            <a:ext cx="4333875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75" b="1" i="0">
                <a:solidFill>
                  <a:srgbClr val="211C18"/>
                </a:solidFill>
                <a:latin typeface="Fraunces"/>
              </a:rPr>
              <a:t>Evaluate structured tasks against needs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4A413A"/>
                </a:solidFill>
                <a:latin typeface="Spectral"/>
              </a:rPr>
              <a:t>Against modelling assumptions &amp; user requirements — not just whether a query executes.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" y="3124200"/>
            <a:ext cx="5191125" cy="1143000"/>
          </a:xfrm>
          <a:prstGeom prst="roundRect">
            <a:avLst>
              <a:gd name="adj" fmla="val 8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0125" y="3267075"/>
            <a:ext cx="361950" cy="36195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125" y="3333750"/>
            <a:ext cx="36195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F4EDE0"/>
                </a:solidFill>
                <a:latin typeface="Fraunce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3333750"/>
            <a:ext cx="4333875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75" b="1" i="0">
                <a:solidFill>
                  <a:srgbClr val="211C18"/>
                </a:solidFill>
                <a:latin typeface="Fraunces"/>
              </a:rPr>
              <a:t>Allow warranted alternatives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4A413A"/>
                </a:solidFill>
                <a:latin typeface="Spectral"/>
              </a:rPr>
              <a:t>For interpretive tasks, accept plural answers rather than forcing a single gold.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2675" y="3124200"/>
            <a:ext cx="5191125" cy="1143000"/>
          </a:xfrm>
          <a:prstGeom prst="roundRect">
            <a:avLst>
              <a:gd name="adj" fmla="val 8000"/>
            </a:avLst>
          </a:prstGeom>
          <a:solidFill>
            <a:srgbClr val="E7DCC8"/>
          </a:solidFill>
          <a:ln w="12700">
            <a:solidFill>
              <a:srgbClr val="D8C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2700" y="3267075"/>
            <a:ext cx="361950" cy="361950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2700" y="3333750"/>
            <a:ext cx="36195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F4EDE0"/>
                </a:solidFill>
                <a:latin typeface="Fraunce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3333750"/>
            <a:ext cx="4333875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75" b="1" i="0">
                <a:solidFill>
                  <a:srgbClr val="211C18"/>
                </a:solidFill>
                <a:latin typeface="Fraunces"/>
              </a:rPr>
              <a:t>Report operational constraints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4A413A"/>
                </a:solidFill>
                <a:latin typeface="Spectral"/>
              </a:rPr>
              <a:t>Cost, latency, maintainability as </a:t>
            </a:r>
            <a:r>
              <a:rPr sz="1087" b="1" i="0">
                <a:solidFill>
                  <a:srgbClr val="211C18"/>
                </a:solidFill>
                <a:latin typeface="Spectral"/>
              </a:rPr>
              <a:t>first-class metrics</a:t>
            </a:r>
            <a:r>
              <a:rPr sz="1087" b="0" i="0">
                <a:solidFill>
                  <a:srgbClr val="4A413A"/>
                </a:solidFill>
                <a:latin typeface="Spectr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3" nodeType="withEffect">
                            <p:stCondLst>
                              <p:cond delay="3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4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5" nodeType="withEffect">
                            <p:stCondLst>
                              <p:cond delay="53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6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4287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7A2E2E"/>
                </a:solidFill>
                <a:latin typeface="IBM Plex Mono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1543050"/>
            <a:ext cx="247650" cy="1905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2000250"/>
            <a:ext cx="904875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211C18"/>
                </a:solidFill>
                <a:latin typeface="Fraunces"/>
              </a:rPr>
              <a:t>The question isn’t whether models are “good” in the abstract.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429000"/>
            <a:ext cx="9525000" cy="209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1050"/>
              </a:spcAft>
            </a:pPr>
            <a:r>
              <a:rPr sz="1875" b="0" i="0">
                <a:solidFill>
                  <a:srgbClr val="4A413A"/>
                </a:solidFill>
                <a:latin typeface="Spectral"/>
              </a:rPr>
              <a:t>It is whether </a:t>
            </a:r>
            <a:r>
              <a:rPr sz="1875" b="1" i="0">
                <a:solidFill>
                  <a:srgbClr val="7A2E2E"/>
                </a:solidFill>
                <a:latin typeface="Spectral"/>
              </a:rPr>
              <a:t>full workflows</a:t>
            </a:r>
            <a:r>
              <a:rPr sz="1875" b="0" i="0">
                <a:solidFill>
                  <a:srgbClr val="4A413A"/>
                </a:solidFill>
                <a:latin typeface="Spectral"/>
              </a:rPr>
              <a:t> produce outputs that stay </a:t>
            </a:r>
            <a:r>
              <a:rPr sz="1875" b="1" i="0">
                <a:solidFill>
                  <a:srgbClr val="7A2E2E"/>
                </a:solidFill>
                <a:latin typeface="Spectral"/>
              </a:rPr>
              <a:t>inspectable and defensible</a:t>
            </a:r>
            <a:r>
              <a:rPr sz="1875" b="0" i="0">
                <a:solidFill>
                  <a:srgbClr val="4A413A"/>
                </a:solidFill>
                <a:latin typeface="Spectral"/>
              </a:rPr>
              <a:t> in humanities settings.</a:t>
            </a:r>
          </a:p>
          <a:p>
            <a:pPr algn="l">
              <a:lnSpc>
                <a:spcPct val="140000"/>
              </a:lnSpc>
            </a:pPr>
            <a:r>
              <a:rPr sz="1875" b="0" i="0">
                <a:solidFill>
                  <a:srgbClr val="4A413A"/>
                </a:solidFill>
                <a:latin typeface="Spectral"/>
              </a:rPr>
              <a:t>Without provenance, uncertainty and end-to-end behaviour, benchmarks reward </a:t>
            </a:r>
            <a:r>
              <a:rPr sz="1875" b="1" i="0">
                <a:solidFill>
                  <a:srgbClr val="7A2E2E"/>
                </a:solidFill>
                <a:latin typeface="Spectral"/>
              </a:rPr>
              <a:t>test-shaped behaviour</a:t>
            </a:r>
            <a:r>
              <a:rPr sz="1875" b="0" i="0">
                <a:solidFill>
                  <a:srgbClr val="4A413A"/>
                </a:solidFill>
                <a:latin typeface="Spectral"/>
              </a:rPr>
              <a:t> — not systems we can responsibly adopt.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5" y="1428750"/>
            <a:ext cx="1238250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857500"/>
            <a:ext cx="7620000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4EDE0"/>
                </a:solidFill>
                <a:latin typeface="Fraunce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667125"/>
            <a:ext cx="66675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425" b="0" i="0">
                <a:solidFill>
                  <a:srgbClr val="CFC3B0"/>
                </a:solidFill>
                <a:latin typeface="Spectral"/>
              </a:rPr>
              <a:t>Assessing LLM Capabilities in Cultural Heritage:</a:t>
            </a:r>
          </a:p>
          <a:p>
            <a:pPr algn="ctr">
              <a:lnSpc>
                <a:spcPct val="140000"/>
              </a:lnSpc>
            </a:pPr>
            <a:r>
              <a:rPr sz="1425" b="0" i="0">
                <a:solidFill>
                  <a:srgbClr val="CFC3B0"/>
                </a:solidFill>
                <a:latin typeface="Spectral"/>
              </a:rPr>
              <a:t>Recent Trends and Gaps in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476750"/>
            <a:ext cx="7620000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90000"/>
              </a:lnSpc>
            </a:pPr>
            <a:r>
              <a:rPr sz="975" b="1" i="0">
                <a:solidFill>
                  <a:srgbClr val="F4EDE0"/>
                </a:solidFill>
                <a:latin typeface="IBM Plex Mono"/>
              </a:rPr>
              <a:t>Remo Grillo</a:t>
            </a:r>
            <a:r>
              <a:rPr sz="975" b="0" i="0">
                <a:solidFill>
                  <a:srgbClr val="C99463"/>
                </a:solidFill>
                <a:latin typeface="IBM Plex Mono"/>
              </a:rPr>
              <a:t>  ·  Gianmarco Spinaci  ·  Lukas Klic  ·  Giovanni Colavizza</a:t>
            </a:r>
          </a:p>
          <a:p>
            <a:pPr algn="ctr">
              <a:lnSpc>
                <a:spcPct val="190000"/>
              </a:lnSpc>
            </a:pPr>
            <a:r>
              <a:rPr sz="975" b="0" i="0">
                <a:solidFill>
                  <a:srgbClr val="C99463"/>
                </a:solidFill>
                <a:latin typeface="IBM Plex Mono"/>
              </a:rPr>
              <a:t>Università di Bologna · I Tatti – Harvard · University of Copenhagen</a:t>
            </a:r>
          </a:p>
          <a:p>
            <a:pPr algn="ctr">
              <a:lnSpc>
                <a:spcPct val="190000"/>
              </a:lnSpc>
            </a:pPr>
            <a:r>
              <a:rPr sz="975" b="0" i="0">
                <a:solidFill>
                  <a:srgbClr val="C99463"/>
                </a:solidFill>
                <a:latin typeface="IBM Plex Mono"/>
              </a:rPr>
              <a:t>rgrillo@itatti.harvard.edu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1" nodeType="withEffect">
                            <p:stCondLst>
                              <p:cond delay="15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2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